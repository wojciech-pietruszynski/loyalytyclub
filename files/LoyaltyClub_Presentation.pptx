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6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PRACA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INŻYNIERSKA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Calibri"/>
              </a:rPr>
              <a:t>System zarządzania
programem lojalnościowym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32004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Projekt i implementacja aplikacji fullstack
Spring Boot · React · Jenkins CI/CD · SonarQube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8FAFC"/>
                </a:solidFill>
                <a:latin typeface="Calibri"/>
              </a:rPr>
              <a:t>Wojciech Pietruszyński</a:t>
            </a:r>
            <a:r>
              <a:rPr lang="pl-PL" sz="1400" b="1" i="0" dirty="0">
                <a:solidFill>
                  <a:srgbClr val="F8FAFC"/>
                </a:solidFill>
                <a:latin typeface="Calibri"/>
              </a:rPr>
              <a:t> 19443</a:t>
            </a:r>
            <a:endParaRPr sz="1400" b="1" i="0" dirty="0">
              <a:solidFill>
                <a:srgbClr val="F8FAF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Calibri"/>
              </a:rPr>
              <a:t>Promotor: </a:t>
            </a:r>
            <a:r>
              <a:rPr lang="pl-PL" sz="1200" dirty="0">
                <a:solidFill>
                  <a:srgbClr val="94A3B8"/>
                </a:solidFill>
                <a:latin typeface="Calibri"/>
              </a:rPr>
              <a:t>Jerzy Kaczorek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731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STACK TECHNOLOGICZNY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825500" cy="25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7000" y="1214120"/>
            <a:ext cx="6731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Java 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188720"/>
            <a:ext cx="1358900" cy="25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5720" y="1214120"/>
            <a:ext cx="12065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Spring Boot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188720"/>
            <a:ext cx="914400" cy="25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11640" y="1214120"/>
            <a:ext cx="76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React 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91640"/>
            <a:ext cx="1092200" cy="254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7000" y="1717040"/>
            <a:ext cx="939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TypeScript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691640"/>
            <a:ext cx="1092200" cy="254000"/>
          </a:xfrm>
          <a:prstGeom prst="rect">
            <a:avLst/>
          </a:prstGeom>
          <a:solidFill>
            <a:srgbClr val="33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31479" y="1717040"/>
            <a:ext cx="939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691640"/>
            <a:ext cx="825500" cy="254000"/>
          </a:xfrm>
          <a:prstGeom prst="rect">
            <a:avLst/>
          </a:prstGeom>
          <a:solidFill>
            <a:srgbClr val="D3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7400" y="1717040"/>
            <a:ext cx="6731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Jenkins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194560"/>
            <a:ext cx="1003300" cy="254000"/>
          </a:xfrm>
          <a:prstGeom prst="rect">
            <a:avLst/>
          </a:prstGeom>
          <a:solidFill>
            <a:srgbClr val="CB7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7000" y="2219960"/>
            <a:ext cx="850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SonarQube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2194560"/>
            <a:ext cx="1003300" cy="254000"/>
          </a:xfrm>
          <a:prstGeom prst="rect">
            <a:avLst/>
          </a:prstGeom>
          <a:solidFill>
            <a:srgbClr val="1C7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31479" y="2219960"/>
            <a:ext cx="850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Liquibase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194560"/>
            <a:ext cx="469900" cy="25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4520" y="2214879"/>
            <a:ext cx="477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JWT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697480"/>
            <a:ext cx="1092200" cy="254000"/>
          </a:xfrm>
          <a:prstGeom prst="rect">
            <a:avLst/>
          </a:prstGeom>
          <a:solidFill>
            <a:srgbClr val="F4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7000" y="2722880"/>
            <a:ext cx="939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Ant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697480"/>
            <a:ext cx="736600" cy="254000"/>
          </a:xfrm>
          <a:prstGeom prst="rect">
            <a:avLst/>
          </a:prstGeom>
          <a:solidFill>
            <a:srgbClr val="40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40040" y="2722880"/>
            <a:ext cx="584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JaCoCo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2697480"/>
            <a:ext cx="736600" cy="254000"/>
          </a:xfrm>
          <a:prstGeom prst="rect">
            <a:avLst/>
          </a:prstGeom>
          <a:solidFill>
            <a:srgbClr val="BD3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11640" y="2722880"/>
            <a:ext cx="584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Vite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749039"/>
            <a:ext cx="5486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Calibri"/>
              </a:rPr>
              <a:t>254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434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Testy łącznie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Calibri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434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API Endpointów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Calibr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434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Tabel w bazie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Calibri"/>
              </a:rPr>
              <a:t>≥94%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434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Pokrycie kodu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4200" y="1153160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115316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Opis biznesowy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00" y="1407160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Cel systemu, grupy użytkowników, funkcje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30552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4200" y="2232152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8400" y="2232152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Architektura systemu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8400" y="2486152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Warstwy backendu, struktura frontendu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9544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4200" y="3311144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400" y="3311144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Stack technologiczny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400" y="3565144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Java 21, Spring Boot 3, React 19 i inne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88536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4200" y="4390136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8400" y="4390136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Bezpieczeństwo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8400" y="4644136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JWT, RBAC, wielodostęp (multi-tenancy)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67528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4200" y="5469128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8400" y="5469128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Baza danych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8400" y="5723128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11 tabel, Liquibase, cykl życia transakcji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05156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4920" y="1153160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9120" y="115316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API &amp; Integracje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9120" y="1407160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27 endpointów, idempotentność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30552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4920" y="2232152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9120" y="2232152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Strategia testowania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9120" y="2486152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254 testy, JaCoCo ≥94%, JUnit + Vitest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209544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4920" y="3311144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9120" y="3311144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Pipeline CI/CD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9120" y="3565144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Jenkins 8 etapów + SonarQube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288536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44920" y="4390136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6366F1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9120" y="4390136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Wnioski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9120" y="4644136"/>
            <a:ext cx="42976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Metryki projektu, możliwe rozszerzenia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Opis biznesowy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Co to jest i po co powstał system?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9496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502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Calibri"/>
              </a:rPr>
              <a:t>PROBLEM BIZNESOWY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5166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Sklepy tracą klientów – brak mechanizmu nagradzania lojalności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Brak spójnej obsługi punktów w wielu krajach jednocześnie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Integracja z kasami POS i platformami e-commerce wymaga zunifikowanego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Trudne zarządzanie promocjami i kuponami rabatowymi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14400"/>
            <a:ext cx="5605272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303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ROZWIĄZANIE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98448"/>
            <a:ext cx="5349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Wielodostępny (multi-tenant) system lojalnościowy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Naliczanie punktów za zakupy – automatycznie przez API sklepu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Wymiana punktów na kupony rabatowe przez platformy e-commerce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Panel administracyjny do zarządzania klientami i promocjami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11274552" cy="26974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MECHANIZM PUNKTÓW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182880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  <a:latin typeface="Calibri"/>
              </a:rPr>
              <a:t>Sprzedaż
(POS)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114800"/>
            <a:ext cx="182880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42062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923C"/>
                </a:solidFill>
                <a:latin typeface="Calibri"/>
              </a:rPr>
              <a:t>PENDING
30 dni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4114800"/>
            <a:ext cx="182880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42062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DE80"/>
                </a:solidFill>
                <a:latin typeface="Calibri"/>
              </a:rPr>
              <a:t>AVAILABLE
gotowe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4114800"/>
            <a:ext cx="182880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42062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  <a:latin typeface="Calibri"/>
              </a:rPr>
              <a:t>Kupon
(e-comm)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4114800"/>
            <a:ext cx="182880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0" y="42062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Calibri"/>
              </a:rPr>
              <a:t>USED
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Grupy użytkowników i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RBAC – 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834640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2834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" y="155448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Administrator systemu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" y="1828800"/>
            <a:ext cx="2560320" cy="127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2760" y="192024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Pełny dostęp do wszystkich krajów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Zarządzanie klientami, kuponami, promocjami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Tworzenie kont technicznych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Ręczne dodawanie punktów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00584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005840"/>
            <a:ext cx="283464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115568"/>
            <a:ext cx="2834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TECHNICAL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155448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Operator kraju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9960" y="1828800"/>
            <a:ext cx="2560320" cy="127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64560" y="192024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Dostęp ograniczony do jednego kraju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Zarządzanie klientami i promocjami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Widzi wyłącznie dane swojego kraju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Multi-tenancy w praktyce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0584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1005840"/>
            <a:ext cx="2834640" cy="63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115568"/>
            <a:ext cx="2834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Calibri"/>
              </a:rPr>
              <a:t>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5560" y="155448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System kasowy (POS)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1760" y="1828800"/>
            <a:ext cx="2560320" cy="127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6360" y="192024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Rejestracja transakcji sprzedaży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Rejestracja zwrotów towarów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Sprawdzanie salda punktowego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Integracja przez REST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100584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81160" y="1005840"/>
            <a:ext cx="2834640" cy="63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1115568"/>
            <a:ext cx="2834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923C"/>
                </a:solidFill>
                <a:latin typeface="Calibri"/>
              </a:rPr>
              <a:t>ECOM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7360" y="155448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Platforma e-commerce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33560" y="1828800"/>
            <a:ext cx="2560320" cy="127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08160" y="192024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Wymiana punktów na kupony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Walidacja kodów kuponów przy kasie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Idempotentne realizacje (Idempotency-Key)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Integracja przez REST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Architektura systemu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Widok ogólny – podział na warstwy i integracje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338560" cy="1188720"/>
          </a:xfrm>
          <a:prstGeom prst="rect">
            <a:avLst/>
          </a:prstGeom>
          <a:solidFill>
            <a:srgbClr val="1C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KLIENCI / INTEGRACJE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3474720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155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Przeglądarka
React SPA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3474720" cy="8686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1155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System POS
STORE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97280"/>
            <a:ext cx="3474720" cy="8686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1155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E-commerce
COUPON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76272"/>
            <a:ext cx="914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76272"/>
            <a:ext cx="914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176272"/>
            <a:ext cx="914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11338560" cy="3154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423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SPRING BOOT 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06040"/>
            <a:ext cx="1106424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660904"/>
            <a:ext cx="10698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B4FC"/>
                </a:solidFill>
                <a:latin typeface="Calibri"/>
              </a:rPr>
              <a:t>🔒  Security Layer: JwtAuthFilter + SecurityConfig + BCryptPasswordEncoder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00400"/>
            <a:ext cx="26974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27832"/>
            <a:ext cx="26974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CONTROLLER
/api/admin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200400"/>
            <a:ext cx="2697480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7560" y="3227832"/>
            <a:ext cx="26974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CONTROLLER
/api/store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200400"/>
            <a:ext cx="2697480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3227832"/>
            <a:ext cx="26974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CONTROLLER
/api/coupon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200400"/>
            <a:ext cx="269748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3227832"/>
            <a:ext cx="26974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CONTROLLER
/api/ecom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94760"/>
            <a:ext cx="11064240" cy="50292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849624"/>
            <a:ext cx="10698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SERVICE LAYER  │  LoyaltyService · StoreTransactionService · CouponService · TechnicalUserService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89120"/>
            <a:ext cx="11064240" cy="502920"/>
          </a:xfrm>
          <a:prstGeom prst="rect">
            <a:avLst/>
          </a:prstGeom>
          <a:solidFill>
            <a:srgbClr val="0F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443984"/>
            <a:ext cx="10698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REPOSITORY LAYER (Spring Data JPA)  │  11 repozytoriów → 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83480"/>
            <a:ext cx="1133856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  <a:latin typeface="Calibri"/>
              </a:rPr>
              <a:t>🗄  PostgreSQL  │  11 tabel  │  Liquibase (7 migracji)  │  Indeksy + Klucze obce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Architektura backendu – 6 warstw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Clean Architecture: każda warstwa zna tylko warstwę poniżej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3385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63500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082040"/>
            <a:ext cx="2926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1 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8204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7 kontrolerów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82040"/>
            <a:ext cx="58521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Obsługa HTTP, routing, walidacja wejścia, mapowanie DTO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47672"/>
            <a:ext cx="113385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47672"/>
            <a:ext cx="63500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023872"/>
            <a:ext cx="2926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2  DTO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23872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~20 klas/rekordów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023872"/>
            <a:ext cx="58521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Kontrakt API, adnotacje @Valid, record vs klasa Lombok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89504"/>
            <a:ext cx="113385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889504"/>
            <a:ext cx="63500" cy="8686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965704"/>
            <a:ext cx="2926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3  Business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965704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5 serwisów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965704"/>
            <a:ext cx="58521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Logika domenowa, reguły biznesowe, transakcje @Transactional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31336"/>
            <a:ext cx="113385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831336"/>
            <a:ext cx="63500" cy="8686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907536"/>
            <a:ext cx="2926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  <a:latin typeface="Calibri"/>
              </a:rPr>
              <a:t>4 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907536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6 klas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907536"/>
            <a:ext cx="58521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JwtAuthFilter, JwtService, 3× UserDetailsService, SecurityConfig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73168"/>
            <a:ext cx="113385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773168"/>
            <a:ext cx="63500" cy="86868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849368"/>
            <a:ext cx="2926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  <a:latin typeface="Calibri"/>
              </a:rPr>
              <a:t>5  Data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849368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11 repozytoriów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849368"/>
            <a:ext cx="58521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Spring Data JPA, @Query JPQL, @Lock (pesymistyczne blokowanie)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715000"/>
            <a:ext cx="113385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715000"/>
            <a:ext cx="63500" cy="868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5791200"/>
            <a:ext cx="2926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6  Domain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79120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11 encji + 4 enumy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791200"/>
            <a:ext cx="58521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JPA entities, Lombok @Builder, @MappedSuperclass (BaseUser)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Stack technologiczny –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2356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7360" y="113284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Java 21 (LTS)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" y="13868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Język programowania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" y="1590040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Virtual threads, records, sealed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562356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360" y="2522728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Spring Boot 3.2.3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" y="277672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Framework aplikacyjny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" y="2979928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Autokonfiguracja, IoC, REST, Data JPA,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85616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785616"/>
            <a:ext cx="562356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7360" y="3912616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  <a:latin typeface="Calibri"/>
              </a:rPr>
              <a:t>Spring Security + JJWT 0.12.6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60" y="416661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Bezpieczeństwo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60" y="4369816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JWT HS512, RBAC, BCrypt, OncePerRequestFilter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75504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175504"/>
            <a:ext cx="56235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360" y="5302504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PostgreSQL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60" y="555650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Relacyjna baza danych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60" y="5759704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ACID, sekwencje, pesymistyczne blokady, indeksy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005840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005840"/>
            <a:ext cx="5623560" cy="508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9520" y="113284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  <a:latin typeface="Calibri"/>
              </a:rPr>
              <a:t>Liquibase 4.x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9520" y="13868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Migracje schematu BD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9520" y="1590040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Wersjonowanie SQL, automatyczna aplikacja przy starcie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395728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2395728"/>
            <a:ext cx="562356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9520" y="2522728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JaCoCo 0.8.11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9520" y="277672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Pokrycie kodu (testy)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9520" y="2979928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Raport XML konsumowany przez SonarQube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785616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3785616"/>
            <a:ext cx="562356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19520" y="3912616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  <a:latin typeface="Calibri"/>
              </a:rPr>
              <a:t>Sonar Maven Plugin 4.0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9520" y="416661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Analiza jakości kodu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9520" y="4369816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Code smells, security hotspots, duplikacje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75504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5175504"/>
            <a:ext cx="5623560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19520" y="5302504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frontend-maven-plugin 1.15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9520" y="555650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Build frontendu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9520" y="5759704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Node.js v20 zarządzany przez Maven, npm ci +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Stack technologiczny –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235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7360" y="113284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React 19.2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" y="13868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Framework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" y="1590040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Funkcyjne komponenty, hooks, concurrent rendering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562356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360" y="2522728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TypeScript 5.9 strict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" y="277672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Typowanie statyczne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" y="2979928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strict mode, noUnusedLocals, wszystkie interfejsy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85616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785616"/>
            <a:ext cx="562356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7360" y="3912616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Vite 7.3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60" y="416661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Build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60" y="4369816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HMR, bundling ESM, proxy deweloperski /api → :8089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75504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175504"/>
            <a:ext cx="5623560" cy="50800"/>
          </a:xfrm>
          <a:prstGeom prst="rect">
            <a:avLst/>
          </a:prstGeom>
          <a:solidFill>
            <a:srgbClr val="F4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360" y="5302504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4E4E"/>
                </a:solidFill>
                <a:latin typeface="Calibri"/>
              </a:rPr>
              <a:t>Ant Design 5.27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60" y="555650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Biblioteka komponentów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60" y="5759704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Tabele, modale, formularze, dark/light theme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005840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005840"/>
            <a:ext cx="562356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9520" y="113284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  <a:latin typeface="Calibri"/>
              </a:rPr>
              <a:t>Axios 1.13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9520" y="13868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Klient HTTP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9520" y="1590040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Interceptory: Bearer token + auto-refresh JWT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395728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2395728"/>
            <a:ext cx="562356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9520" y="2522728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Vitest 3.2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9520" y="277672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Test runner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9520" y="2979928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Kompatybilny z Jest API, coverage v8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785616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3785616"/>
            <a:ext cx="5623560" cy="508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19520" y="3912616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  <a:latin typeface="Calibri"/>
              </a:rPr>
              <a:t>React Testing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9520" y="416661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Testy komponentów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9520" y="4369816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Testowanie zachowania z perspektywy użytkownika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75504"/>
            <a:ext cx="562356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5175504"/>
            <a:ext cx="5623560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19520" y="5302504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CSS Variables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9520" y="555650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Stylowanie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9520" y="5759704"/>
            <a:ext cx="5394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Motywy jasny/ciemny bez zewnętrznych bibliotek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Model bezpieczeństwa –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Stateless authentication: HMAC-SHA512 · 15 min · auto-refresh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566160" cy="5440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3383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ZAWARTOŚĆ TOKENU JWT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383280" cy="4846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4200" y="135636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12800" y="135636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1400" y="135636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8800" y="1559560"/>
            <a:ext cx="3180080" cy="4465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// Header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{ "alg": "HS512" }</a:t>
            </a:r>
          </a:p>
          <a:p>
            <a:endParaRPr sz="1000">
              <a:solidFill>
                <a:srgbClr val="A5F3FC"/>
              </a:solidFill>
              <a:latin typeface="Consolas"/>
            </a:endParaRP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// Payload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"sub": "techpl",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"iat": 1711000000,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"exp": 1711000900,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"role": "TECHNICAL"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}</a:t>
            </a:r>
          </a:p>
          <a:p>
            <a:endParaRPr sz="1000">
              <a:solidFill>
                <a:srgbClr val="A5F3FC"/>
              </a:solidFill>
              <a:latin typeface="Consolas"/>
            </a:endParaRP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// Signature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HMAC-SHA512(secret_key)</a:t>
            </a:r>
          </a:p>
          <a:p>
            <a:endParaRPr sz="1000">
              <a:solidFill>
                <a:srgbClr val="A5F3FC"/>
              </a:solidFill>
              <a:latin typeface="Consolas"/>
            </a:endParaRP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⏱ Ważność: 15 minut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🔑 Klucz: 64 bajty Base64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ze zmiennej środowiskowej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914400"/>
            <a:ext cx="7589520" cy="5440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005840"/>
            <a:ext cx="731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PRZEPŁYW AUTENTYKACJI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325880"/>
            <a:ext cx="1645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1 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325880"/>
            <a:ext cx="5669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F1"/>
                </a:solidFill>
                <a:latin typeface="Calibri"/>
              </a:rPr>
              <a:t>POST /auth/login {username, password}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792224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BCrypt.matches() → generateToken()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258568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← {token, expiresAt, role, country}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724912"/>
            <a:ext cx="1645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2 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724912"/>
            <a:ext cx="5669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Authorization: Bearer {token}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191256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JwtAuthFilter: extract +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657600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SecurityContext.setAuthentication()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123944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Controller obsługuje żądanie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590288"/>
            <a:ext cx="1645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Calibri"/>
              </a:rPr>
              <a:t>3  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590288"/>
            <a:ext cx="5669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923C"/>
                </a:solidFill>
                <a:latin typeface="Calibri"/>
              </a:rPr>
              <a:t>POST /auth/refresh (gdy zostało &lt; 60 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056632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→ Nowy token z tym samym username +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522976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← {newToken, newExpiresAt}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Wielodostęp – Multi-tenancy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Jeden system, wiele krajów, izolacja danych przez 'Country Scope'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7406640" cy="3246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731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IZOLACJA DANYCH MIĘDZY KRAJAMI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132320" cy="713232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7320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47320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923C"/>
                </a:solidFill>
                <a:latin typeface="Calibri"/>
              </a:rPr>
              <a:t>(brak ograniczenia)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73200"/>
            <a:ext cx="2377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→  PL + DE + CZ + SK + 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7132320" cy="713232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616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TECHNICAL 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29616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923C"/>
                </a:solidFill>
                <a:latin typeface="Calibri"/>
              </a:rPr>
              <a:t>country = 'PL'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296160"/>
            <a:ext cx="2377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→  tylko klienci z PL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7132320" cy="713232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11912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Calibri"/>
              </a:rPr>
              <a:t>TECHNICAL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119120"/>
            <a:ext cx="2286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923C"/>
                </a:solidFill>
                <a:latin typeface="Calibri"/>
              </a:rPr>
              <a:t>country = 'DE'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119120"/>
            <a:ext cx="2377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→  tylko klienci z 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7406640" cy="2514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2760" y="432816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1360" y="432816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9960" y="432816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360" y="4531360"/>
            <a:ext cx="7203440" cy="213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// Kontroler wyciąga scope z JWT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String scope = technicalUserService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.resolveTechnicalUserCountry(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   authentication.getName());</a:t>
            </a:r>
          </a:p>
          <a:p>
            <a:endParaRPr sz="1000">
              <a:solidFill>
                <a:srgbClr val="A5F3FC"/>
              </a:solidFill>
              <a:latin typeface="Consolas"/>
            </a:endParaRP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// Serwis filtruje dane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if (scope != null)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return repository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  .findAllByCountry(scope);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}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return repository.findAll(); // 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914400"/>
            <a:ext cx="3749039" cy="5852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005840"/>
            <a:ext cx="3566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BAZA DANYCH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280160"/>
            <a:ext cx="352044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Kolumna country VARCHAR(3)
we WSZYSTKICH tabelach biznesowych: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92024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customers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transactions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customer_coupons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store_points_promotions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coupon_templates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Calibri"/>
              </a:rPr>
              <a:t>▸ technical_users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023360"/>
            <a:ext cx="35204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Calibri"/>
              </a:rPr>
              <a:t>Indeks na kolumnie country
→ wydajne filtrowanie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572000"/>
            <a:ext cx="35204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Dostępne kraje
(konfiguracja):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029200"/>
            <a:ext cx="3520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PL · DE · CZ · SK · 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Baza danych – schemat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11 tabel · PostgreSQL · relacje i cykl życia transakcji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017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360" y="1016000"/>
            <a:ext cx="2814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AUTENTYKACJA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" y="1270000"/>
            <a:ext cx="2814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admin_users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store_users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ecom_users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technical_users (+country)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914400"/>
            <a:ext cx="3017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914400"/>
            <a:ext cx="301752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7760" y="1016000"/>
            <a:ext cx="2814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Calibri"/>
              </a:rPr>
              <a:t>PROGRAM LOJALNOŚCIOWY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760" y="1270000"/>
            <a:ext cx="2814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customers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transactions (state, type)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customer_coupons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coupon_templates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coupon_prefixes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914400"/>
            <a:ext cx="3017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6640" y="914400"/>
            <a:ext cx="301752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08240" y="1016000"/>
            <a:ext cx="2814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Calibri"/>
              </a:rPr>
              <a:t>SKLEP / KUPONY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8240" y="1270000"/>
            <a:ext cx="2814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store_points_promotions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coupon_redemption_requests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8FAFC"/>
                </a:solidFill>
                <a:latin typeface="Calibri"/>
              </a:rPr>
              <a:t>▸  (idempotency_key UNIQUE)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40"/>
            <a:ext cx="11338560" cy="3063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731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CYKL ŻYCIA TRANSAKCJI (state machine)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49039"/>
            <a:ext cx="2514600" cy="22860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749039"/>
            <a:ext cx="251460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84048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923C"/>
                </a:solidFill>
                <a:latin typeface="Calibri"/>
              </a:rPr>
              <a:t>PENDING
30 dni
blokada zwrotów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461772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749039"/>
            <a:ext cx="2514600" cy="22860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91840" y="3749039"/>
            <a:ext cx="25146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40" y="384048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  <a:latin typeface="Calibri"/>
              </a:rPr>
              <a:t>AVAILABLE
gotowe do
wymiany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461772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749039"/>
            <a:ext cx="2514600" cy="22860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80760" y="3749039"/>
            <a:ext cx="2514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384048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USED
punkty
wymienione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61772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3749039"/>
            <a:ext cx="2514600" cy="228600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69680" y="3749039"/>
            <a:ext cx="2514600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9680" y="384048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EXPIRED
365 dni
wygasły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8076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Sprzedaż POS → PENDING → (30 dni)  → AVAILABLE → (wymiana ECOM) → USED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Liquibase – wersjonowanie schematu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7 migracji SQL · automatyczna aplikacja przy starcie aplikacji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338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36320"/>
            <a:ext cx="502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366F1"/>
                </a:solidFill>
                <a:latin typeface="Calibri"/>
              </a:rPr>
              <a:t>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36320"/>
            <a:ext cx="3200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schema_init_auth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036320"/>
            <a:ext cx="72237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Tabele użytkowników: admin, store, ecom, technical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11338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31848"/>
            <a:ext cx="502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DE80"/>
                </a:solidFill>
                <a:latin typeface="Calibri"/>
              </a:rPr>
              <a:t>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31848"/>
            <a:ext cx="3200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schema_init_core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31848"/>
            <a:ext cx="72237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Tabele biznesowe: customers, transactions, coupons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51176"/>
            <a:ext cx="11338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627376"/>
            <a:ext cx="502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27376"/>
            <a:ext cx="3200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indexes_and_constraints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27376"/>
            <a:ext cx="72237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7 indeksów + 3 klucze obce dla integralności danych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46704"/>
            <a:ext cx="11338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22904"/>
            <a:ext cx="502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923C"/>
                </a:solidFill>
                <a:latin typeface="Calibri"/>
              </a:rPr>
              <a:t>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422904"/>
            <a:ext cx="3200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Calibri"/>
              </a:rPr>
              <a:t>backfill_missing_columns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422904"/>
            <a:ext cx="72237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Uzupełnienie kolumny country w istniejących wierszach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42232"/>
            <a:ext cx="11338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18432"/>
            <a:ext cx="502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DE80"/>
                </a:solidFill>
                <a:latin typeface="Calibri"/>
              </a:rPr>
              <a:t>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18432"/>
            <a:ext cx="3200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transaction_lifecycle_promo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218432"/>
            <a:ext cx="72237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Cykl życia transakcji (state/type) + tabela promocji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37760"/>
            <a:ext cx="11338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013960"/>
            <a:ext cx="502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366F1"/>
                </a:solidFill>
                <a:latin typeface="Calibri"/>
              </a:rPr>
              <a:t>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013960"/>
            <a:ext cx="3200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source_transaction_number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013960"/>
            <a:ext cx="72237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Śledzenie numeru źródłowej transakcji (unikalny klucz)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33288"/>
            <a:ext cx="11338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809488"/>
            <a:ext cx="502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923C"/>
                </a:solidFill>
                <a:latin typeface="Calibri"/>
              </a:rPr>
              <a:t>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809488"/>
            <a:ext cx="3200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Calibri"/>
              </a:rPr>
              <a:t>coupon_redemption_idempotency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5809488"/>
            <a:ext cx="722376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Tabela idempotency_key dla bezpiecznych retry kuponów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492240"/>
            <a:ext cx="11338560" cy="32004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✔ Zero ręcznych skryptów SQL na serwerze  ·  ✔ Wersja schematu w Git  ·  ✔ Automatyczna aplikacja przy każdym starcie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API – mapa endpointów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27 endpointów REST · 5 domen · integracja POS +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840480" cy="5852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38404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360" y="100584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ADMIN API  /api/admin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" y="1325880"/>
            <a:ext cx="3657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GET    /customers             Lista klientów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  /customers             Nowy klient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PUT    /customers/{id}        Aktualizacja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  /customers/{id}/add-points  Punkty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  /tools/import-customers     CSV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GET/POST /coupon-templates    Szablony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  /coupons/issue         Wydanie kuponu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GET/POST/PUT/PATCH /store-promotions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GET/POST/PATCH /technical-users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  /auth/login · /auth/refresh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399" y="914400"/>
            <a:ext cx="3840480" cy="5852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399" y="914400"/>
            <a:ext cx="384048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4999" y="100584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STORE API  /api/store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999" y="1325880"/>
            <a:ext cx="3657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/transactions/sale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→ naliczenie punktów za sprzedaż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/transactions/return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→ odjęcie punktów przy zwrocie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GET  /customers/{nr}/points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→ saldo punktowe klienta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/auth/login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8" y="914400"/>
            <a:ext cx="3840480" cy="5852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38" y="914400"/>
            <a:ext cx="384048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2638" y="100584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Calibri"/>
              </a:rPr>
              <a:t>COUPON API  /api/coupon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2638" y="1325880"/>
            <a:ext cx="3657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POST /redeem-points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Header: Idempotency-Key: {uuid}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→ wymiana punktów na kupon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GET  /validate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?couponCode=ABC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?customerNumber=C001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Calibri"/>
              </a:rPr>
              <a:t>     → walidacja przy kasie e-comm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Strategia testowania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" y="8326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254 testy łącznie · JUnit 5 + Mockito · Vitest · JaCoCo ≥ 94%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7740" y="1399030"/>
            <a:ext cx="4826000" cy="6141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99028" y="1422906"/>
            <a:ext cx="482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F172A"/>
                </a:solidFill>
                <a:latin typeface="Calibri"/>
              </a:rPr>
              <a:t>E2E / </a:t>
            </a:r>
            <a:r>
              <a:rPr sz="1200" b="1" i="0" dirty="0" err="1">
                <a:solidFill>
                  <a:srgbClr val="0F172A"/>
                </a:solidFill>
                <a:latin typeface="Calibri"/>
              </a:rPr>
              <a:t>Weryfikacja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0F172A"/>
                </a:solidFill>
                <a:latin typeface="Calibri"/>
              </a:rPr>
              <a:t>wdrożenia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1446" y="1643378"/>
            <a:ext cx="482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Ręczna weryfikacja (pgrep procesu w Jenkins)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7580" y="2093976"/>
            <a:ext cx="71120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7580" y="2144776"/>
            <a:ext cx="711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Integracyjne – MockMvc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7580" y="2373376"/>
            <a:ext cx="7112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8 klas · ~40 testów · @WebMvcTest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5708" y="2836670"/>
            <a:ext cx="9398000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5708" y="2887470"/>
            <a:ext cx="939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Jednostkowe Backend – JUnit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708" y="3116070"/>
            <a:ext cx="939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10 klas · ~150 testów · @ExtendWith(Mockito)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888" y="3771392"/>
            <a:ext cx="11684000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-254000" y="3982720"/>
            <a:ext cx="1168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0F172A"/>
                </a:solidFill>
                <a:latin typeface="Calibri"/>
              </a:rPr>
              <a:t>Jednostkowe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 Frontend – </a:t>
            </a:r>
            <a:r>
              <a:rPr sz="1200" b="1" i="0" dirty="0" err="1">
                <a:solidFill>
                  <a:srgbClr val="0F172A"/>
                </a:solidFill>
                <a:latin typeface="Calibri"/>
              </a:rPr>
              <a:t>Vitest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254000" y="4211320"/>
            <a:ext cx="1168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0F172A"/>
                </a:solidFill>
                <a:latin typeface="Calibri"/>
              </a:rPr>
              <a:t>17 </a:t>
            </a:r>
            <a:r>
              <a:rPr sz="1000" b="0" i="0" dirty="0" err="1">
                <a:solidFill>
                  <a:srgbClr val="0F172A"/>
                </a:solidFill>
                <a:latin typeface="Calibri"/>
              </a:rPr>
              <a:t>plików</a:t>
            </a:r>
            <a:r>
              <a:rPr sz="1000" b="0" i="0" dirty="0">
                <a:solidFill>
                  <a:srgbClr val="0F172A"/>
                </a:solidFill>
                <a:latin typeface="Calibri"/>
              </a:rPr>
              <a:t> · ~64 testy · RTL + </a:t>
            </a:r>
            <a:r>
              <a:rPr sz="1000" b="0" i="0" dirty="0" err="1">
                <a:solidFill>
                  <a:srgbClr val="0F172A"/>
                </a:solidFill>
                <a:latin typeface="Calibri"/>
              </a:rPr>
              <a:t>jsdom</a:t>
            </a:r>
            <a:endParaRPr sz="10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4133" y="5293360"/>
            <a:ext cx="1600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4133" y="5290312"/>
            <a:ext cx="16002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6366F1"/>
                </a:solidFill>
                <a:latin typeface="Calibri"/>
              </a:rPr>
              <a:t>190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933" y="5950712"/>
            <a:ext cx="1498600" cy="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testów 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854" y="5301488"/>
            <a:ext cx="1600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23566" y="5316728"/>
            <a:ext cx="16002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ADE80"/>
                </a:solidFill>
                <a:latin typeface="Calibri"/>
              </a:rPr>
              <a:t>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566" y="5955792"/>
            <a:ext cx="1498600" cy="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94A3B8"/>
                </a:solidFill>
                <a:latin typeface="Calibri"/>
              </a:rPr>
              <a:t>testów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frontend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5564" y="5356350"/>
            <a:ext cx="1600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5336032"/>
            <a:ext cx="16002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38BDF8"/>
                </a:solidFill>
                <a:latin typeface="Calibri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5000" y="5930392"/>
            <a:ext cx="1498600" cy="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94A3B8"/>
                </a:solidFill>
                <a:latin typeface="Calibri"/>
              </a:rPr>
              <a:t>klas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testowych</a:t>
            </a:r>
            <a:endParaRPr sz="11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79033" y="5356350"/>
            <a:ext cx="1600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3" y="5356350"/>
            <a:ext cx="16002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FB923C"/>
                </a:solidFill>
                <a:latin typeface="Calibri"/>
              </a:rPr>
              <a:t>≥94%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9033" y="6016750"/>
            <a:ext cx="1498600" cy="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pokrycie klas biz.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Typy testów – przykłady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Izolacja warstw · AssertJ · MockMvc · Vitest RTL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4406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TEST JEDNOSTKOWY SERWISU (JUnit 5 + Mockito)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5349240" cy="2194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8480" y="131064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7080" y="131064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5680" y="131064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3080" y="1513840"/>
            <a:ext cx="5146040" cy="1813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@ExtendWith(MockitoExtension.class)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class TechnicalUserServiceTest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@Mock TechnicalUserRepository repo;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@InjectMocks TechnicalUserService svc;</a:t>
            </a:r>
          </a:p>
          <a:p>
            <a:endParaRPr sz="1000">
              <a:solidFill>
                <a:srgbClr val="A5F3FC"/>
              </a:solidFill>
              <a:latin typeface="Consolas"/>
            </a:endParaRP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@Test void create_badCountry_shouldThrow()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assertThatThrownBy(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() -&gt; svc.createTechnicalUser(req))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.isInstanceOf(BusinessException.class)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.hasMessageContaining(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  "Country code is not allowed");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}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14400"/>
            <a:ext cx="585216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98755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TEST KONTROLERA (@WebMvcTest + MockMvc)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34440"/>
            <a:ext cx="5760720" cy="2194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62040" y="131064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90640" y="131064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19240" y="131064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36640" y="1513840"/>
            <a:ext cx="5557520" cy="1813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@WebMvcTest(AuthController.class,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excludeAutoConfiguration =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SecurityAutoConfiguration.class })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class AuthControllerTest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@Autowired MockMvc mockMvc;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@MockBean JwtService jwtService;</a:t>
            </a:r>
          </a:p>
          <a:p>
            <a:endParaRPr sz="1000">
              <a:solidFill>
                <a:srgbClr val="A5F3FC"/>
              </a:solidFill>
              <a:latin typeface="Consolas"/>
            </a:endParaRP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@Test void login_shouldReturn200()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mockMvc.perform(post("/auth/login")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.contentType(APPLICATION_JSON)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.content(body))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.andExpect(status().isOk())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.andExpect(jsonPath("$.role")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          .value("ADMIN"));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}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5440680" cy="2697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7647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Calibri"/>
              </a:rPr>
              <a:t>TEST KOMPONENTU (Vitest + React Testing Library)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23360"/>
            <a:ext cx="5349240" cy="2240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8480" y="409956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67080" y="409956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5680" y="409956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3080" y="4302760"/>
            <a:ext cx="5146040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describe('LoginView', () =&gt;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it('calls setUsername on change', () =&gt;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render(&lt;LoginView {...mockProps} /&gt;);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fireEvent.change(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screen.getByDisplayValue('admin'),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{ target: { value: 'newuser' } }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);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expect(mockProps.setUsername)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    .toHaveBeenCalledWith('newuser');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});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});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703320"/>
            <a:ext cx="5852160" cy="2697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37764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Calibri"/>
              </a:rPr>
              <a:t>POKRYCIE KODU – JaCoCo (linie)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0690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AuthController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069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343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BusinessException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343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617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JwtAuthFilter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617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 97%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892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TechnicalUserService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4892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 97%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166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LoyaltyService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5166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 96%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440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CouponService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5440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 95%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715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LoyaltyController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 94%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989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StoreTransactionSvc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ADE80"/>
                </a:solidFill>
                <a:latin typeface="Calibri"/>
              </a:rPr>
              <a:t> 94%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Pipeline CI/CD – Jenkins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8 etapów · automatyczne testy · SonarQube · zero-downtime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353312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01
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560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git clone
github →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9164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0512" y="960120"/>
            <a:ext cx="1353312" cy="63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10512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alibri"/>
              </a:rPr>
              <a:t>02
Testy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1312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mvn test
-P build-backend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169164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5264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55264" y="960120"/>
            <a:ext cx="1353312" cy="63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55264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  <a:latin typeface="Calibri"/>
              </a:rPr>
              <a:t>03
SonarQube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6064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mvn sonar:sonar
token z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69164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0016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00016" y="960120"/>
            <a:ext cx="1353312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0016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04
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0816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mvn package
-P build-frontend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169164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4768" y="960120"/>
            <a:ext cx="1353312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44768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05
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5568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pkill
loyaltyClub.jar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169164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89520" y="960120"/>
            <a:ext cx="1353312" cy="635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06
Archive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0320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mv .jar
archive/TIMESTAMP.jar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69164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34272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34272" y="960120"/>
            <a:ext cx="135331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34272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Calibri"/>
              </a:rPr>
              <a:t>07
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5072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cp target/*.jar
/home/wojciech/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5872" y="169164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79024" y="960120"/>
            <a:ext cx="1353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479024" y="960120"/>
            <a:ext cx="1353312" cy="63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79024" y="1078992"/>
            <a:ext cx="1353312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alibri"/>
              </a:rPr>
              <a:t>08
Start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9824" y="16002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nohup java -jar
+ verify (pgrep)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29000"/>
            <a:ext cx="3840480" cy="3337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7360" y="352044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Etap 02 – Testy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560" y="3794760"/>
            <a:ext cx="3749039" cy="2834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43560" y="387096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72160" y="387096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00760" y="387096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8160" y="4074160"/>
            <a:ext cx="3545839" cy="2453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sh "mvn test -P build-backend"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post { always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junit "target/surefire-reports/*.xml"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} }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399" y="3429000"/>
            <a:ext cx="3840480" cy="3337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44999" y="352044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Calibri"/>
              </a:rPr>
              <a:t>Etap 03 – SonarQube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94199" y="3794760"/>
            <a:ext cx="3749039" cy="2834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521199" y="387096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749799" y="387096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978399" y="387096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95799" y="4074160"/>
            <a:ext cx="3545839" cy="2453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withCredentials([string(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credentialsId: "loyalty-club",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variable: "SONAR_TOKEN")]) {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  sh "mvn sonar:sonar ..."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38" y="3429000"/>
            <a:ext cx="3840480" cy="3337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22638" y="352044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Etap 08 – Start + weryfikacja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71838" y="3794760"/>
            <a:ext cx="3749039" cy="2834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498838" y="387096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727438" y="3870960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56038" y="3870960"/>
            <a:ext cx="127000" cy="1270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73438" y="4074160"/>
            <a:ext cx="3545839" cy="2453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5F3FC"/>
                </a:solidFill>
                <a:latin typeface="Consolas"/>
              </a:rPr>
              <a:t>export JENKINS_NODE_COOKIE=dontKillMe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nohup java ${JAVA_OPTS} -jar *.jar &amp;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sleep 15</a:t>
            </a:r>
          </a:p>
          <a:p>
            <a:r>
              <a:rPr sz="1000">
                <a:solidFill>
                  <a:srgbClr val="A5F3FC"/>
                </a:solidFill>
                <a:latin typeface="Consolas"/>
              </a:rPr>
              <a:t>pgrep -f "loyaltyClub.jar" || exit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Analiza jakości kodu – SonarQube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  <a:latin typeface="Calibri"/>
              </a:rPr>
              <a:t>Code smells · Security hotspots · Duplikacje · Pokrycie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3385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61720"/>
            <a:ext cx="155448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923C"/>
                </a:solidFill>
                <a:latin typeface="Calibri"/>
              </a:rPr>
              <a:t>S2245
Pseudo-random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087120"/>
            <a:ext cx="2743200" cy="457200"/>
          </a:xfrm>
          <a:prstGeom prst="rect">
            <a:avLst/>
          </a:prstGeom>
          <a:solidFill>
            <a:srgbClr val="3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76272" y="1163320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  <a:latin typeface="Calibri"/>
              </a:rPr>
              <a:t>PRZED: ThreadLocalRandom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18872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087120"/>
            <a:ext cx="2743200" cy="457200"/>
          </a:xfrm>
          <a:prstGeom prst="rect">
            <a:avLst/>
          </a:prstGeom>
          <a:solidFill>
            <a:srgbClr val="14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5232" y="1163320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Calibri"/>
              </a:rPr>
              <a:t>PO: SecureRandom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163320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Kody kuponów to dane bezpieczeństwa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75688"/>
            <a:ext cx="113385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77288"/>
            <a:ext cx="155448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S112
Generyczny wyjątek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202688"/>
            <a:ext cx="2743200" cy="457200"/>
          </a:xfrm>
          <a:prstGeom prst="rect">
            <a:avLst/>
          </a:prstGeom>
          <a:solidFill>
            <a:srgbClr val="3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6272" y="2278888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  <a:latin typeface="Calibri"/>
              </a:rPr>
              <a:t>PRZED: RuntimeException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04288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2202688"/>
            <a:ext cx="2743200" cy="457200"/>
          </a:xfrm>
          <a:prstGeom prst="rect">
            <a:avLst/>
          </a:prstGeom>
          <a:solidFill>
            <a:srgbClr val="14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5232" y="2278888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Calibri"/>
              </a:rPr>
              <a:t>PO: BusinessException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278888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Dedykowany wyjątek dla logiki biznesowej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91256"/>
            <a:ext cx="113385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292856"/>
            <a:ext cx="155448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  <a:latin typeface="Calibri"/>
              </a:rPr>
              <a:t>S6204
Collect stream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3318256"/>
            <a:ext cx="2743200" cy="457200"/>
          </a:xfrm>
          <a:prstGeom prst="rect">
            <a:avLst/>
          </a:prstGeom>
          <a:solidFill>
            <a:srgbClr val="3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76272" y="3394456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  <a:latin typeface="Calibri"/>
              </a:rPr>
              <a:t>PRZED: .collect(toList())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419856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3318256"/>
            <a:ext cx="2743200" cy="457200"/>
          </a:xfrm>
          <a:prstGeom prst="rect">
            <a:avLst/>
          </a:prstGeom>
          <a:solidFill>
            <a:srgbClr val="14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85232" y="3394456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Calibri"/>
              </a:rPr>
              <a:t>PO: .toList()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394456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Natywna metoda Java 16+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06824"/>
            <a:ext cx="113385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408424"/>
            <a:ext cx="155448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4ADE80"/>
                </a:solidFill>
                <a:latin typeface="Calibri"/>
              </a:rPr>
              <a:t>S3776
</a:t>
            </a:r>
            <a:r>
              <a:rPr sz="1000" b="1" i="0" dirty="0" err="1">
                <a:solidFill>
                  <a:srgbClr val="4ADE80"/>
                </a:solidFill>
                <a:latin typeface="Calibri"/>
              </a:rPr>
              <a:t>Złożoność</a:t>
            </a:r>
            <a:r>
              <a:rPr sz="1000" b="1" i="0" dirty="0">
                <a:solidFill>
                  <a:srgbClr val="4ADE80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4ADE80"/>
                </a:solidFill>
                <a:latin typeface="Calibri"/>
              </a:rPr>
              <a:t>kogn</a:t>
            </a:r>
            <a:r>
              <a:rPr sz="1000" b="1" i="0" dirty="0">
                <a:solidFill>
                  <a:srgbClr val="4ADE80"/>
                </a:solidFill>
                <a:latin typeface="Calibri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4433824"/>
            <a:ext cx="2743200" cy="457200"/>
          </a:xfrm>
          <a:prstGeom prst="rect">
            <a:avLst/>
          </a:prstGeom>
          <a:solidFill>
            <a:srgbClr val="3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76272" y="4510024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  <a:latin typeface="Calibri"/>
              </a:rPr>
              <a:t>PRZED: Cognitive &gt;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535424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4433824"/>
            <a:ext cx="2743200" cy="457200"/>
          </a:xfrm>
          <a:prstGeom prst="rect">
            <a:avLst/>
          </a:prstGeom>
          <a:solidFill>
            <a:srgbClr val="14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85232" y="4510024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Calibri"/>
              </a:rPr>
              <a:t>PO: Ekstrakcja importCustomerLine()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510024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Czytelność i testowalność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422392"/>
            <a:ext cx="113385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523992"/>
            <a:ext cx="155448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Duplikacja encji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5549392"/>
            <a:ext cx="2743200" cy="457200"/>
          </a:xfrm>
          <a:prstGeom prst="rect">
            <a:avLst/>
          </a:prstGeom>
          <a:solidFill>
            <a:srgbClr val="3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76272" y="5625592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  <a:latin typeface="Calibri"/>
              </a:rPr>
              <a:t>PRZED: 3× te same pola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650992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5549392"/>
            <a:ext cx="2743200" cy="457200"/>
          </a:xfrm>
          <a:prstGeom prst="rect">
            <a:avLst/>
          </a:prstGeom>
          <a:solidFill>
            <a:srgbClr val="14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85232" y="5625592"/>
            <a:ext cx="2651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Calibri"/>
              </a:rPr>
              <a:t>PO: BaseUser @MappedSuperclass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5625592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Eliminacja 60+ linii duplikatu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Metryki projektu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1600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6366F1"/>
                </a:solidFill>
                <a:latin typeface="Calibri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560" y="167640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klas źródłowych 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91440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01600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ADE80"/>
                </a:solidFill>
                <a:latin typeface="Calibri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8360" y="167640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endpointów 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91440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01600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8BDF8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0160" y="167640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tabel w bazie danych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91440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101600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B923C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1960" y="167640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migracji Liquibase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57632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ADE80"/>
                </a:solidFill>
                <a:latin typeface="Calibri"/>
              </a:rPr>
              <a:t>254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560" y="423672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testów łącznie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47472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357632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6366F1"/>
                </a:solidFill>
                <a:latin typeface="Calibri"/>
              </a:rPr>
              <a:t>≥94%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8360" y="423672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pokrycie kodu (serwisy)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57632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B923C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0160" y="423672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etapów pipeline CI/CD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3474720"/>
            <a:ext cx="28346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3576320"/>
            <a:ext cx="283464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8BDF8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1960" y="4236720"/>
            <a:ext cx="273304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języki UI (PL/EN/DE)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989320"/>
            <a:ext cx="113385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1722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Java 21  ·  Spring Boot 3.2.3  ·  React 19  ·  PostgreSQL  ·  Jenkins  ·  SonarQube  ·  JaCoCo  ·  Liquibase  ·  Vitest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Wnioski i możliwe rozszerzenia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4922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6400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CO ZOSTAŁO OSIĄGNIĘTE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263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Calibri"/>
              </a:rPr>
              <a:t>▸ Kompletny system produkcyjny – frontend + backend + BD w jednym JAR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Calibri"/>
              </a:rPr>
              <a:t>▸ Bezpieczeństwo klasy enterprise – JWT HS512, RBAC, BCrypt, SecureRandom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Calibri"/>
              </a:rPr>
              <a:t>▸ Wielodostępność – jeden system obsługuje wiele krajów z izolacją danych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Calibri"/>
              </a:rPr>
              <a:t>▸ Automatyzacja – pipeline Jenkins eliminuje ręczne wdrożenia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Calibri"/>
              </a:rPr>
              <a:t>▸ Jakość kodu – SonarQube monitoruje dług techniczny na każdym buildzie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Calibri"/>
              </a:rPr>
              <a:t>▸ ≥ 94% pokrycie kodu klas biznesowych przez 254 testy automatyczne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FAFC"/>
                </a:solidFill>
                <a:latin typeface="Calibri"/>
              </a:rPr>
              <a:t>▸ Wirtualne wątki Java 21 – skalowalność bez zmiany kodu aplikacji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914400"/>
            <a:ext cx="46634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005840"/>
            <a:ext cx="4480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MOŻLIWE ROZSZERZENIA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37160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Docker + 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62560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Konteneryzacja, orchestracja, auto-scaling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OAuth2 / OIDC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44856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Federacja tożsamości (Google, Azure 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01752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  <a:latin typeface="Calibri"/>
              </a:rPr>
              <a:t>Apache Kafka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7152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Asynchroniczne zdarzenia transakcyjne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84048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Calibri"/>
              </a:rPr>
              <a:t>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09448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Cache sald punktowych,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66344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Grafana + Prometheus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917440"/>
            <a:ext cx="4297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Monitoring metryk i alertów w czasie real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6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Dziękuję za uwagę!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32004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Pytania i dyskusja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Wojciech Pietruszyński
Praca Inżynierska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640080"/>
            <a:ext cx="5577840" cy="6080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777240"/>
            <a:ext cx="5303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QUICK 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285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4244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klas Java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23444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1285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4244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endpointów 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51460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565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2260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tabel 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51460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2565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02260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migracji Liquibase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79476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845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190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0276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testów 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379476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3845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30276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testów 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507492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5125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≥94%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58292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pokrycie kodu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5074920"/>
            <a:ext cx="2468880" cy="1097280"/>
          </a:xfrm>
          <a:prstGeom prst="rect">
            <a:avLst/>
          </a:prstGeom>
          <a:solidFill>
            <a:srgbClr val="26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80" y="5125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582920"/>
            <a:ext cx="2468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etapów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2510</Words>
  <Application>Microsoft Office PowerPoint</Application>
  <PresentationFormat>Niestandardowy</PresentationFormat>
  <Paragraphs>544</Paragraphs>
  <Slides>20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Wojciech Pietruszyński</cp:lastModifiedBy>
  <cp:revision>6</cp:revision>
  <dcterms:created xsi:type="dcterms:W3CDTF">2013-01-27T09:14:16Z</dcterms:created>
  <dcterms:modified xsi:type="dcterms:W3CDTF">2026-03-19T13:07:38Z</dcterms:modified>
  <cp:category/>
</cp:coreProperties>
</file>