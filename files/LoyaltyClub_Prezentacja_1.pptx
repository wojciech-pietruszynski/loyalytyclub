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0" y="914400"/>
            <a:ext cx="2011680" cy="201168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9920" y="5029200"/>
            <a:ext cx="1280160" cy="12801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0" y="4572000"/>
            <a:ext cx="731520" cy="73152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801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</a:rPr>
              <a:t>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LoyaltyClub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5B4FC"/>
                </a:solidFill>
              </a:rPr>
              <a:t>Enterprise Loyalty Management System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343400"/>
            <a:ext cx="32004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0E7FF"/>
                </a:solidFill>
              </a:rPr>
              <a:t>Wojciech Pietruszyński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A5B4FC"/>
                </a:solidFill>
              </a:rPr>
              <a:t>Java 21  ·  Spring Boot 3  ·  React 19  ·  PostgreSQL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1264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Wersja 1.1.0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Co omówimy podczas tej prezentacji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9047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4904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Zarys Biznesowy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8928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Cele i wartość projektu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17320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490472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9047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Funkcjonalności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89280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Panel admin, silnik lojalnościowy,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32888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32888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6060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606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Architektura Systemu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0083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Przepływ danych, role, bezpieczeństwo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532888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2532888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60604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606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Stos Technologiczny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00837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Backend · Frontend · Infrastruktura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648456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648456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" y="37216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7216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Baza Danych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12394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Model danych, migracje Liquibase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3648456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3648456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73952" y="372160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721608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CI/CD &amp; Wdrożenie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412394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Jenkins pipeline, Docker, JAR deployment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764024"/>
            <a:ext cx="5577840" cy="987552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764024"/>
            <a:ext cx="54864" cy="9875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4837176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6366F1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837176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Podsumowanie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23951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Wzorce projektowe, wnioski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01 · Zarys Biznesowy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System lojalnościowy klasy Enterprise dla sieci handlowych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0E7FF"/>
                </a:solidFill>
              </a:rPr>
              <a:t>LoyaltyClub to kompletna platforma zarządzania programem lojalnościowym, integrująca panel administracyjny, silnik naliczania punktów oraz API dla systemów POS i e-commerce.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76272"/>
            <a:ext cx="566928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76272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Zwiększenie Retencji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67919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Nagradzanie powracających klientów punktami za każdy zakup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176272"/>
            <a:ext cx="566928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176272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86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Multi-Market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67919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Obsługa 5 rynków (PL, DE, CZ, SK, LT) z separacją danych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93591"/>
            <a:ext cx="566928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593591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🎟️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Automatyzacja Nagród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09651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Wymiana punktów na kupony rabatowe z elastycznymi warunkami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593591"/>
            <a:ext cx="566928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3593591"/>
            <a:ext cx="54864" cy="12344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5392" y="3703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Analityka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096511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Historia transakcji i wizualizacja salda punktowego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02 · Funkcjonalności Systemu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Panel administracyjny &amp; Silnik lojalnościowy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669280" cy="521208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4864" cy="5212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🖥️  Panel Administracyjny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874519"/>
            <a:ext cx="52120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99339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Zarządzanie klientami (CRUD + import CSV)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517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Ręczne dodawanie / korekta punktów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3101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Tworzenie szablonów kuponów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96849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Wystawianie kuponów (wymiana lub reklamacja)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62686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Promocje sklepowe z datami ważności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285231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Konta techniczne dla systemów zewnętrznych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325880"/>
            <a:ext cx="5669280" cy="521208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325880"/>
            <a:ext cx="54864" cy="5212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4173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⚙️  Silnik Lojalnościowy (API)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1874519"/>
            <a:ext cx="521208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1993392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Naliczanie punktów wg kwoty i aktywnej promocji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651760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Mechanizm Pending – punkty po 30 dniach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310128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Obsługa zwrotów z korektą salda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968496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Weryfikacja i realizacja kuponów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62686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Idempotentność realizacji (brak podwójnych upomnień)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285231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Wielokrajowa separacja danych per token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03 · Architektura Systemu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Przepływ danych i podział odpowiedzialności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286000" cy="91440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2057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🖥️  Admin
Panel (React)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2286000" cy="91440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114800"/>
            <a:ext cx="54864" cy="9144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187952"/>
            <a:ext cx="2057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🛒  POS / Store
(Basic Auth)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77840"/>
            <a:ext cx="2286000" cy="91440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577840"/>
            <a:ext cx="54864" cy="9144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650992"/>
            <a:ext cx="20574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🌐  e-Commerce
(JWT)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0" y="3200400"/>
            <a:ext cx="4114800" cy="228600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3200400"/>
            <a:ext cx="54864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273552"/>
            <a:ext cx="388620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Spring Boot Backend
──────────────
Admin API   /api/admin/**
Store API    /api/store/**
Coupon API  /api/coupon/**
Ecom API    /api/ecom/**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3200400"/>
            <a:ext cx="2926080" cy="228600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52560" y="3200400"/>
            <a:ext cx="54864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3273552"/>
            <a:ext cx="2697480" cy="2121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🗄️  PostgreSQL 15
──────────
customers
transactions
coupons
promotions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971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JWT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JWT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5897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JWT 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5B4FC"/>
                </a:solidFill>
              </a:rPr>
              <a:t>JPA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371600"/>
            <a:ext cx="11430000" cy="10058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371600"/>
            <a:ext cx="54864" cy="1005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144475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🔐  Bezpieczeństwo: Spring Security + JWT (15 min exp.) · BCrypt · Role: ADMIN, TECHNICAL, STORE, ECOM · Country Scope per 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04 · Stos Technologiczny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Backend · Frontend · Infrastruktura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749039" cy="521208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54864" cy="5212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3560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☕ 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1892807"/>
            <a:ext cx="329184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Java 21 (Amazon Corretto) + Virtual Threads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6609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Spring Boot 3.2.3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82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Spring Security + JJWT 0.12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39044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Spring Data JPA / Hibernate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Liquibase – migracje schematu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5148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Lombok · Maven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1325880"/>
            <a:ext cx="3749039" cy="521208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1325880"/>
            <a:ext cx="54864" cy="52120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43560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⚛️  Frontend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53712" y="1892807"/>
            <a:ext cx="329184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React 19.2 + TypeScript 5.9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6609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Vite 7.3 (HMR dev server)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3282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Ant Design 5 (UI components)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39044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Lucide React (ikony)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Axios + interceptory JWT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5148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Vitest + Testing Library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1325880"/>
            <a:ext cx="3749039" cy="521208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21040" y="1325880"/>
            <a:ext cx="54864" cy="52120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85632" y="1435607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🏗️  Infrastruktura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85632" y="1892807"/>
            <a:ext cx="3291840" cy="3657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85632" y="203911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Docker Compose – PostgreSQL 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266090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Jenkins – CI/CD pipeline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328269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Frontend Maven Plugin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85632" y="39044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Single JAR 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45262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i18n: PL · EN · 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85632" y="514807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▸  Port 8089, DB port 5433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05 · Model Danych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PostgreSQL 15 · 10+ tabel · Liquibase migrations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3749039" cy="26060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3749039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380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customer_id (PK)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3055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first/last_name, email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45973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customer_number, phone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8892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country (PL/DE/…)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18103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loyalty_points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25880"/>
            <a:ext cx="3749039" cy="26060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325880"/>
            <a:ext cx="3749039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1380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8013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id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13055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customer_id (FK)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5973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points, amount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78892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points_per_currency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118103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state: PENDING/AVAILABLE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447287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type, description, country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1325880"/>
            <a:ext cx="3749039" cy="26060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9600" y="1325880"/>
            <a:ext cx="3749039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138074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coupon_templates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18013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id (PK)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13055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coupon_value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45973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minimum_purchase_value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78892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required_points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18103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validity_days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47287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coupon_prefix, country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251960"/>
            <a:ext cx="3749039" cy="26060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251960"/>
            <a:ext cx="3749039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43068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customer_coupons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72744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id (PK)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0566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coupon_code (UNIQUE)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8581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customer_id, template_id (FK)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71500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reason: POINTS_EXCHANGE/COMPLAINT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0441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status: ACTIVE/USED/EXPIRED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37336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issued_at, expires_at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80" y="4251960"/>
            <a:ext cx="3749039" cy="26060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97680" y="4251960"/>
            <a:ext cx="3749039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07408" y="43068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store_promotions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89120" y="472744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id (PK)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50566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name, country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89120" y="538581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points_per_currency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89120" y="571500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starts_at, ends_at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60441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enabled (BOOLEAN)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251960"/>
            <a:ext cx="3749039" cy="26060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229600" y="4251960"/>
            <a:ext cx="3749039" cy="38404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39327" y="43068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technical_users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4727448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id (PK)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5056632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username (UNIQUE)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5385816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password (BCrypt)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5715000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country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6044184"/>
            <a:ext cx="3520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0E7FF"/>
                </a:solidFill>
              </a:rPr>
              <a:t>  enabled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1052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5B4FC"/>
                </a:solidFill>
              </a:rPr>
              <a:t>Migracje: 001_schema_init_auth  ·  002_schema_init_core  ·  003_indexes  ·  005_backfill  ·  006_store_lifecycle  ·  007_source_number  ·  008_coupon_idempotency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06 · CI/CD &amp; Wdrożenie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Jenkins Pipeline · Docker · Single JAR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7373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173736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4538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
Checkout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4767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7FF"/>
                </a:solidFill>
              </a:rPr>
              <a:t>git checkout
branch: work-branch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9696" y="1984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04288" y="1417320"/>
            <a:ext cx="17373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04288" y="1417320"/>
            <a:ext cx="173736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4538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
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94767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7FF"/>
                </a:solidFill>
              </a:rPr>
              <a:t>mvn -Pbuild-frontend
clean test package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1984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42816" y="1417320"/>
            <a:ext cx="17373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42816" y="1417320"/>
            <a:ext cx="173736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14538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
Stop
Old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194767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7FF"/>
                </a:solidFill>
              </a:rPr>
              <a:t>kill previous
JAR process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16752" y="1984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417320"/>
            <a:ext cx="17373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1344" y="1417320"/>
            <a:ext cx="173736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14538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
Archive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194767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7FF"/>
                </a:solidFill>
              </a:rPr>
              <a:t>backup old JAR
z timestampem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1984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2" y="1417320"/>
            <a:ext cx="17373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19872" y="1417320"/>
            <a:ext cx="173736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93024" y="14538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
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93024" y="194767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7FF"/>
                </a:solidFill>
              </a:rPr>
              <a:t>copy new JAR
do katalogu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93808" y="1984248"/>
            <a:ext cx="1463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6366F1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0" y="1417320"/>
            <a:ext cx="17373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58400" y="1417320"/>
            <a:ext cx="1737360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1552" y="1453896"/>
            <a:ext cx="1600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
Start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1552" y="1947672"/>
            <a:ext cx="1600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0E7FF"/>
                </a:solidFill>
              </a:rPr>
              <a:t>java -jar *.jar
&amp; application.log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46120"/>
            <a:ext cx="56235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246120"/>
            <a:ext cx="54864" cy="1508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🐳  Docker Compose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" y="372160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PostgreSQL 15 na porcie 5433
Persystencja danych przez named volume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246120"/>
            <a:ext cx="56235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09360" y="3246120"/>
            <a:ext cx="54864" cy="1508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3952" y="33375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 Build Frontendu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3952" y="372160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Frontend Maven Plugin
Node 20.19 → npm ci → test → build
Kopiowanie do resources/static/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937760"/>
            <a:ext cx="56235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4937760"/>
            <a:ext cx="54864" cy="1508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5029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🚀  Deployment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541324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Jeden plik JAR – backend + frontend
JENKINS_NODE_COOKIE=dontKillMe
Logi: application.log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4937760"/>
            <a:ext cx="5623560" cy="1508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4937760"/>
            <a:ext cx="54864" cy="15087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502920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🔐  Konfiguracja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73952" y="5413248"/>
            <a:ext cx="52120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0E7FF"/>
                </a:solidFill>
              </a:rPr>
              <a:t>Sekrety przez zmienne środowiskowe
${DB_URL}, ${DB_PASSWORD}, ${JWT_SECRET}
Fallback lokalny w properties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79576"/>
            <a:ext cx="12188952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07 · Wzorce Projektowe &amp; Jakość Kodu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5B4FC"/>
                </a:solidFill>
              </a:rPr>
              <a:t>Dobre praktyki zastosowane w projekcie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4864" cy="2651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4356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🏛️  Architektura warstwowa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892807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Controller → Service → Repository
Jasna separacja odpowiedzialności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32588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25880"/>
            <a:ext cx="54864" cy="2651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9584" y="14356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📋  DTO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9584" y="1892807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Encje nigdy nie wychodzą poza serwis
Bezpieczna projekcja danych w odpowiedzi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32588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325880"/>
            <a:ext cx="54864" cy="2651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14356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🔒  Country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7104" y="1892807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Token JWT = zakres krajowy użytkownika
Filtry DB zamiast filtrowania w pamięci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18320" y="132588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18320" y="1325880"/>
            <a:ext cx="54864" cy="26517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64624" y="1435607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⚡  React Hooks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64624" y="1892807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Logika biznesowa w custom hookach
useCustomers, useCoupons, useAuth…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657600"/>
            <a:ext cx="54864" cy="2651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3767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🔄  Idempotentność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4224528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coupon_redemption_requests – tabela
zapobiega podwójnym realizacjom kuponów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0" y="365760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3657600"/>
            <a:ext cx="54864" cy="2651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9584" y="3767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🌐  i18n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9584" y="4224528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3 języki: PL · EN · DE
Typ-bezpieczne klucze tłumaczeń (TypeScript)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65760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3657600"/>
            <a:ext cx="54864" cy="26517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47104" y="3767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🧪  Testy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47104" y="4224528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Vitest + Testing Library (frontend)
Spring Boot Test (backend)
Unit + integracyjne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18320" y="3657600"/>
            <a:ext cx="2834640" cy="265176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8320" y="3657600"/>
            <a:ext cx="54864" cy="2651760"/>
          </a:xfrm>
          <a:prstGeom prst="rect">
            <a:avLst/>
          </a:prstGeom>
          <a:solidFill>
            <a:srgbClr val="A5B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64624" y="3767328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📈  Pending Points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64624" y="4224528"/>
            <a:ext cx="25146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0E7FF"/>
                </a:solidFill>
              </a:rPr>
              <a:t>Punkty oczekujące (PENDING state)
30-dniowe okno na obsługę zwrotów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54864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Dziękuję za uwagę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5B4FC"/>
                </a:solidFill>
              </a:rPr>
              <a:t>LoyaltyClub – kompletny system lojalnościowy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834640"/>
            <a:ext cx="4572000" cy="54864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108960"/>
            <a:ext cx="169164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1691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307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B4FC"/>
                </a:solidFill>
              </a:rPr>
              <a:t>plików Java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88920" y="3108960"/>
            <a:ext cx="169164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3108960"/>
            <a:ext cx="1691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32004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44+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7307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B4FC"/>
                </a:solidFill>
              </a:rPr>
              <a:t>plików 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108960"/>
            <a:ext cx="169164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63440" y="3108960"/>
            <a:ext cx="1691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79" y="32004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79" y="37307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B4FC"/>
                </a:solidFill>
              </a:rPr>
              <a:t>tabel w bazie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3108960"/>
            <a:ext cx="169164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59" y="3108960"/>
            <a:ext cx="1691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399" y="32004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399" y="37307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B4FC"/>
                </a:solidFill>
              </a:rPr>
              <a:t>moduły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3108960"/>
            <a:ext cx="169164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12480" y="3108960"/>
            <a:ext cx="1691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19" y="32004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19" y="37307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B4FC"/>
                </a:solidFill>
              </a:rPr>
              <a:t>języki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87000" y="3108960"/>
            <a:ext cx="1691640" cy="1234440"/>
          </a:xfrm>
          <a:prstGeom prst="rect">
            <a:avLst/>
          </a:prstGeom>
          <a:solidFill>
            <a:srgbClr val="2D2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287000" y="3108960"/>
            <a:ext cx="169164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78440" y="320040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78440" y="3730752"/>
            <a:ext cx="1508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B4FC"/>
                </a:solidFill>
              </a:rPr>
              <a:t>obsługiwane kraje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754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👤  Wojciech Pietruszyński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166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B4FC"/>
                </a:solidFill>
              </a:rPr>
              <a:t>🔗  linkedin.com/in/wojciech-pietruszynski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0E7FF"/>
                </a:solidFill>
              </a:rPr>
              <a:t>🔧  github / loyaltyClub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